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5ec593264e40e6" /><Relationship Type="http://schemas.openxmlformats.org/officeDocument/2006/relationships/extended-properties" Target="/docProps/app.xml" Id="Ref67259807c149d2" /><Relationship Type="http://schemas.openxmlformats.org/officeDocument/2006/relationships/officeDocument" Target="/ppt/presentation.xml" Id="R8863562c83aa47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de08e0ea044028"/>
  </p:sldMasterIdLst>
  <p:notesMasterIdLst>
    <p:notesMasterId xmlns:r="http://schemas.openxmlformats.org/officeDocument/2006/relationships" r:id="Rd5e9a37bb37d45c0"/>
  </p:notesMasterIdLst>
  <p:sldIdLst>
    <p:sldId xmlns:r="http://schemas.openxmlformats.org/officeDocument/2006/relationships" id="256" r:id="R02fe0cc8b7a54c9c"/>
    <p:sldId xmlns:r="http://schemas.openxmlformats.org/officeDocument/2006/relationships" id="257" r:id="R1165cb8a4afa445c"/>
    <p:sldId xmlns:r="http://schemas.openxmlformats.org/officeDocument/2006/relationships" id="258" r:id="R94d17f57d6934490"/>
    <p:sldId xmlns:r="http://schemas.openxmlformats.org/officeDocument/2006/relationships" id="259" r:id="Re28c74a7fa854166"/>
    <p:sldId xmlns:r="http://schemas.openxmlformats.org/officeDocument/2006/relationships" id="260" r:id="Rcc4a0e6b64294ee0"/>
    <p:sldId xmlns:r="http://schemas.openxmlformats.org/officeDocument/2006/relationships" id="261" r:id="Rc6a4ea0b61df4b56"/>
    <p:sldId xmlns:r="http://schemas.openxmlformats.org/officeDocument/2006/relationships" id="262" r:id="Rdcdc2770c2ea4653"/>
    <p:sldId xmlns:r="http://schemas.openxmlformats.org/officeDocument/2006/relationships" id="263" r:id="R2d7b7ac832bd47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8188dd73234ae9" /><Relationship Type="http://schemas.openxmlformats.org/officeDocument/2006/relationships/slideMaster" Target="/ppt/slideMasters/slideMaster1.xml" Id="R23de08e0ea044028" /><Relationship Type="http://schemas.openxmlformats.org/officeDocument/2006/relationships/notesMaster" Target="/ppt/notesMasters/notesMaster1.xml" Id="Rd5e9a37bb37d45c0" /><Relationship Type="http://schemas.openxmlformats.org/officeDocument/2006/relationships/presProps" Target="/ppt/presProps.xml" Id="Rc17f993f3ab342ca" /><Relationship Type="http://schemas.openxmlformats.org/officeDocument/2006/relationships/tableStyles" Target="/ppt/tableStyles.xml" Id="Rcfbf7b366ad442b2" /><Relationship Type="http://schemas.openxmlformats.org/officeDocument/2006/relationships/slide" Target="/ppt/slides/slide1.xml" Id="R02fe0cc8b7a54c9c" /><Relationship Type="http://schemas.openxmlformats.org/officeDocument/2006/relationships/slide" Target="/ppt/slides/slide2.xml" Id="R1165cb8a4afa445c" /><Relationship Type="http://schemas.openxmlformats.org/officeDocument/2006/relationships/slide" Target="/ppt/slides/slide3.xml" Id="R94d17f57d6934490" /><Relationship Type="http://schemas.openxmlformats.org/officeDocument/2006/relationships/slide" Target="/ppt/slides/slide4.xml" Id="Re28c74a7fa854166" /><Relationship Type="http://schemas.openxmlformats.org/officeDocument/2006/relationships/slide" Target="/ppt/slides/slide5.xml" Id="Rcc4a0e6b64294ee0" /><Relationship Type="http://schemas.openxmlformats.org/officeDocument/2006/relationships/slide" Target="/ppt/slides/slide6.xml" Id="Rc6a4ea0b61df4b56" /><Relationship Type="http://schemas.openxmlformats.org/officeDocument/2006/relationships/slide" Target="/ppt/slides/slide7.xml" Id="Rdcdc2770c2ea4653" /><Relationship Type="http://schemas.openxmlformats.org/officeDocument/2006/relationships/slide" Target="/ppt/slides/slide8.xml" Id="R2d7b7ac832bd47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6b373fcac645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54ebc112424315" /><Relationship Type="http://schemas.openxmlformats.org/officeDocument/2006/relationships/notesMaster" Target="/ppt/notesMasters/notesMaster1.xml" Id="Rc462619d587247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6c4c1e96384917" /><Relationship Type="http://schemas.openxmlformats.org/officeDocument/2006/relationships/notesMaster" Target="/ppt/notesMasters/notesMaster1.xml" Id="R3703e6fef4f643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db05131ab24c33" /><Relationship Type="http://schemas.openxmlformats.org/officeDocument/2006/relationships/notesMaster" Target="/ppt/notesMasters/notesMaster1.xml" Id="R463c0b6df900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332baf33604b6d" /><Relationship Type="http://schemas.openxmlformats.org/officeDocument/2006/relationships/notesMaster" Target="/ppt/notesMasters/notesMaster1.xml" Id="Rb98cf602c10a42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d527e536f3433b" /><Relationship Type="http://schemas.openxmlformats.org/officeDocument/2006/relationships/notesMaster" Target="/ppt/notesMasters/notesMaster1.xml" Id="R053e1a137cbd44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e9654bbec04df8" /><Relationship Type="http://schemas.openxmlformats.org/officeDocument/2006/relationships/notesMaster" Target="/ppt/notesMasters/notesMaster1.xml" Id="R3139f16b5a2543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311e7101f0467f" /><Relationship Type="http://schemas.openxmlformats.org/officeDocument/2006/relationships/notesMaster" Target="/ppt/notesMasters/notesMaster1.xml" Id="R3a525f92a9dd46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2c34a88e144be1" /><Relationship Type="http://schemas.openxmlformats.org/officeDocument/2006/relationships/notesMaster" Target="/ppt/notesMasters/notesMaster1.xml" Id="R64e5890362ba4e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overview based on the README.md and job_ Application Tracker.sql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objectives and scope based on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and relationships based on the SQL schema in job_ Application Tracker.sql.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 names, fields and keys follow job_ Application Tracker.sql. The supplied ER image differs from the implemented columns.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Query examples and the application status index are documented in job_ Application Tracker.sql.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and example roles reflect the sample inserts in job_ Application Tracker.sql.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Setup and future improvements are summarized from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20152fd1941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af897d9be4c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863579b7c47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a8dfb4c434f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d25004d8b41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d5c873cda4b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3F6D32-EC10-4EF7-8372-6ADAFDA7E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E149E6-EB12-4D0A-B96B-0A4EE46EC2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F5532A-5FA8-46B2-95C4-D5341A2CF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2B4F9F-77DE-4953-83C0-910BCEE7AE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E48467-66C2-42AE-818A-87DFE1722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7D2512-55CC-458F-9BF0-209F54498A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54B278-E3DE-4B6E-BABC-93E639D41A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EDC65F-9B31-48E5-8661-DFA699A867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226C69-4027-4183-BE52-C6E533E965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AECDF6-A108-4AB5-B7DD-2373E5C8E0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8096e85b3f455c" /><Relationship Type="http://schemas.openxmlformats.org/officeDocument/2006/relationships/slideLayout" Target="/ppt/slideLayouts/slideLayout1.xml" Id="R8f6cfbaba6ad4934" /><Relationship Type="http://schemas.openxmlformats.org/officeDocument/2006/relationships/slideLayout" Target="/ppt/slideLayouts/slideLayout2.xml" Id="Rcd7ae68cf67a416b" /><Relationship Type="http://schemas.openxmlformats.org/officeDocument/2006/relationships/slideLayout" Target="/ppt/slideLayouts/slideLayout3.xml" Id="R36bf37597dc847a0" /><Relationship Type="http://schemas.openxmlformats.org/officeDocument/2006/relationships/slideLayout" Target="/ppt/slideLayouts/slideLayout4.xml" Id="Rc4d96df95d8e41e5" /><Relationship Type="http://schemas.openxmlformats.org/officeDocument/2006/relationships/slideLayout" Target="/ppt/slideLayouts/slideLayout5.xml" Id="Ra27178374f3147c8" /><Relationship Type="http://schemas.openxmlformats.org/officeDocument/2006/relationships/slideLayout" Target="/ppt/slideLayouts/slideLayout6.xml" Id="Rfc805b20854c4b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6cfbaba6ad4934"/>
    <p:sldLayoutId xmlns:r="http://schemas.openxmlformats.org/officeDocument/2006/relationships" id="2147483650" r:id="Rcd7ae68cf67a416b"/>
    <p:sldLayoutId xmlns:r="http://schemas.openxmlformats.org/officeDocument/2006/relationships" id="2147483651" r:id="R36bf37597dc847a0"/>
    <p:sldLayoutId xmlns:r="http://schemas.openxmlformats.org/officeDocument/2006/relationships" id="2147483652" r:id="Rc4d96df95d8e41e5"/>
    <p:sldLayoutId xmlns:r="http://schemas.openxmlformats.org/officeDocument/2006/relationships" id="2147483653" r:id="Ra27178374f3147c8"/>
    <p:sldLayoutId xmlns:r="http://schemas.openxmlformats.org/officeDocument/2006/relationships" id="2147483654" r:id="Rfc805b20854c4b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2c5065b9f4fce" /><Relationship Type="http://schemas.openxmlformats.org/officeDocument/2006/relationships/image" Target="/ppt/media/image.png" Id="R9ec78cf7b5954bad" /><Relationship Type="http://schemas.openxmlformats.org/officeDocument/2006/relationships/notesSlide" Target="/ppt/notesSlides/notesSlide1.xml" Id="Rf6b3a64c221f40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53f7d56c643e3" /><Relationship Type="http://schemas.openxmlformats.org/officeDocument/2006/relationships/image" Target="/ppt/media/image2.png" Id="R6110c4d6e4294268" /><Relationship Type="http://schemas.openxmlformats.org/officeDocument/2006/relationships/notesSlide" Target="/ppt/notesSlides/notesSlide2.xml" Id="R94c4731e810c4a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6c843a3254310" /><Relationship Type="http://schemas.openxmlformats.org/officeDocument/2006/relationships/image" Target="/ppt/media/image3.png" Id="R26216d88677b48fc" /><Relationship Type="http://schemas.openxmlformats.org/officeDocument/2006/relationships/notesSlide" Target="/ppt/notesSlides/notesSlide3.xml" Id="Ree904f31074849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7f3222e6324831" /><Relationship Type="http://schemas.openxmlformats.org/officeDocument/2006/relationships/image" Target="/ppt/media/image4.png" Id="Rd341e9bcf7f04f6e" /><Relationship Type="http://schemas.openxmlformats.org/officeDocument/2006/relationships/notesSlide" Target="/ppt/notesSlides/notesSlide4.xml" Id="Rd3e1af3f637445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8d6f6120b47e1" /><Relationship Type="http://schemas.openxmlformats.org/officeDocument/2006/relationships/image" Target="/ppt/media/image5.png" Id="Re902375fcd7f433a" /><Relationship Type="http://schemas.openxmlformats.org/officeDocument/2006/relationships/notesSlide" Target="/ppt/notesSlides/notesSlide5.xml" Id="R8e59e5ff822b42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5bd47d876e4b79" /><Relationship Type="http://schemas.openxmlformats.org/officeDocument/2006/relationships/image" Target="/ppt/media/image6.png" Id="Rf7e1662624284486" /><Relationship Type="http://schemas.openxmlformats.org/officeDocument/2006/relationships/notesSlide" Target="/ppt/notesSlides/notesSlide6.xml" Id="Rced72b498b8e4e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0025269d2433a" /><Relationship Type="http://schemas.openxmlformats.org/officeDocument/2006/relationships/image" Target="/ppt/media/image7.png" Id="R60e633cfd0254b49" /><Relationship Type="http://schemas.openxmlformats.org/officeDocument/2006/relationships/notesSlide" Target="/ppt/notesSlides/notesSlide7.xml" Id="R9c6ab8ba329c4e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00baee8a74226" /><Relationship Type="http://schemas.openxmlformats.org/officeDocument/2006/relationships/image" Target="/ppt/media/image8.png" Id="R4c77298926694dc8" /><Relationship Type="http://schemas.openxmlformats.org/officeDocument/2006/relationships/notesSlide" Target="/ppt/notesSlides/notesSlide8.xml" Id="R6a7d53d1438b4d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61DD7-F906-4691-A61E-C09CAD6A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46BF0-7CDA-47EC-A0E8-0C67CAF2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422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EFF13-09BA-4EE1-8FB4-37E5FBFC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422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7EDA7-36BB-478F-BFBA-2ED2D881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DATABASE PROJECT  / 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5FF46-CFD3-4FF9-95DF-48BB4B44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Job Application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07CB2-3C15-4C23-9660-378FD93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A relational database for organizing job opportunities and monitoring application progress.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D2147-2020-43D7-9CBB-8AB9BE07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121A3-377E-48D5-8E20-35F49C5F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Companies, roles, applications and interviews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86074-E8B3-47C2-A673-B1B196E0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Prepared by Rittika Kundu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F4FE6-A44A-4AD3-8732-1A5528CA77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78cf7b5954bad"/>
          <a:srcRect xmlns:a="http://schemas.openxmlformats.org/drawingml/2006/main" l="0" t="31000" r="0" b="23000"/>
          <a:stretch xmlns:a="http://schemas.openxmlformats.org/drawingml/2006/main"/>
        </p:blipFill>
        <p:spPr>
          <a:xfrm xmlns:a="http://schemas.openxmlformats.org/drawingml/2006/main">
            <a:off x="10382250" y="133350"/>
            <a:ext cx="1390650" cy="514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74694-F6AA-4075-88DD-2C028799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F71EF-0A39-4F74-831E-0BCBE90E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95550"/>
            <a:ext cx="323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practical MySQL project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for a structured job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30819-BBE5-44B4-9D5F-EAC36EB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DC6F2-809F-43AE-A74E-4602C91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00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6 linked tables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4D895-EBDE-4481-8908-EB130DA0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71975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Schema, sample data, queries and a status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01531-9971-4160-B262-8A9FEC13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6315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916FD-374D-4DFC-811F-F1B9E87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606EF-A857-44CC-B00D-8A06D63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2B87D-6D19-4F64-88BB-E9E1ED5A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single record of the job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1FA54-C685-4BEE-B473-8822C6B5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5B0E1-FAAD-4B80-A1E6-DC4733F3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JOB APPLICATION TRACKER / MYSQL DATABASE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10B5D-63D9-4829-BE6C-340E842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3483B-8B24-4421-974A-8AA8FEE7F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0c4d6e4294268"/>
          <a:srcRect xmlns:a="http://schemas.openxmlformats.org/drawingml/2006/main" l="0" t="31000" r="0" b="23000"/>
          <a:stretch xmlns:a="http://schemas.openxmlformats.org/drawingml/2006/main"/>
        </p:blipFill>
        <p:spPr>
          <a:xfrm xmlns:a="http://schemas.openxmlformats.org/drawingml/2006/main">
            <a:off x="10382250" y="133350"/>
            <a:ext cx="1390650" cy="514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247D3-6C87-4E48-A556-7A7A8E2B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project models the information a candidate needs to keep opportunities and follow-ups organized.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E8EDB-42F1-4121-A0C8-93DF0572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1C5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671D0-F94A-4B4A-9331-EFAD070E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FE2F4-79BA-4671-AAE8-1F34EBE5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Keep company and role details together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141E5-CE4A-4F7D-BEEF-47ECF0BA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Connect each job posting to its company, location and salary range.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0D771-2507-49C8-B207-B4209476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1C5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D7560-A218-4E6F-A117-FDD806E1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22310-5927-487D-9D87-7B6B8805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Track application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5E026-052C-42EE-9852-D2E01FC1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671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Record submission date, current status, source and notes.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FB23C-853C-45AC-8789-6163BAC1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1C5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208B0-54AC-458E-87A7-6E062771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3DC46-193E-415D-A02F-9F751C70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Prepare for next steps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B0FB8-7206-4A7D-AD31-31593368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Store interview rounds and link relevant skills to applications.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6BA0B-06AA-428C-80C9-C9C44F07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992C3-9DAB-4334-8698-5C3DD7B6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PROJECT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5AE61E-F960-4D96-AAAB-B91897A6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47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MySQL schema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3EF29-178C-4160-A754-0E372247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86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6 tables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E768B-8C15-428A-BA94-EFEFCA33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E6A9E-12FF-4299-9EE1-EFEF8C9D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SQL examples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EC013-2706-41F2-A9EC-6BFAB7EE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9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16 query patterns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1CC95-2ED5-4540-8AA9-2C8B03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67225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80962E-1C1C-40CC-942A-7B00B2AE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Sample records</a:t>
            </a:r>
          </a:p>
        </p:txBody>
      </p:sp>
    </p:spTree>
    <p:extLst>
      <p:ext uri="{BB962C8B-B14F-4D97-AF65-F5344CB8AC3E}">
        <p14:creationId xmlns:p14="http://schemas.microsoft.com/office/powerpoint/2010/main" val="1598029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8DFBF-FB60-4AF6-AC75-B3BF994E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8FCB3-FDF4-4A92-8B4A-EF32339D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A7BFA-5072-4C37-9829-9B0B779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data follows the application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CBD7A-64C3-44F5-A02B-FA385FBA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C1B93-ACCC-472C-BF54-5DD8352F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JOB APPLICATION TRACKER / MYSQL DATABASE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97411-3B53-47CB-A434-4A0E3DB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BDA79-66AC-4C51-89F5-BED0CC7FF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16d88677b48fc"/>
          <a:srcRect xmlns:a="http://schemas.openxmlformats.org/drawingml/2006/main" l="0" t="31000" r="0" b="23000"/>
          <a:stretch xmlns:a="http://schemas.openxmlformats.org/drawingml/2006/main"/>
        </p:blipFill>
        <p:spPr>
          <a:xfrm xmlns:a="http://schemas.openxmlformats.org/drawingml/2006/main">
            <a:off x="10382250" y="133350"/>
            <a:ext cx="1390650" cy="514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17BC7-975D-4270-9621-B45ECEE2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table represents one part of the candidate's process. Foreign keys preserve the links between them.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4DCA3-7FD4-44F4-914A-FA35E114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6B036-6A08-4259-B658-52FEE066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7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F9C50-B371-454F-8969-ABC259E0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77E5"/>
                </a:solidFill>
                <a:latin typeface="Aptos"/>
                <a:ea typeface="Aptos"/>
                <a:cs typeface="Aptos"/>
              </a:rPr>
              <a:t>01  ORGANIZE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70937-739B-464C-8209-DC1D7065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Companies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B79F7-CA99-45D9-8BD5-0504D183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Name, industry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and location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A0D43-D990-423E-9BD7-A4D12DE1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71750"/>
            <a:ext cx="2381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31428-9ABC-407A-AC9F-DD8E7F45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71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905F4-5D81-48AD-9D3A-4ECA9506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9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02  DISCOVER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B1E06-D389-4711-9F6D-93D824F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76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Job postings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656CC-3918-4B33-9829-3B4C51DE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290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Role, type, salary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and 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0894C-BC5F-49F9-9E6E-A319A007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2381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CCEC3-8917-4CA2-B3F7-788E4F31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7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EB643-35EB-44AA-94F6-7AA7A98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9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327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77E5"/>
                </a:solidFill>
                <a:latin typeface="Aptos"/>
                <a:ea typeface="Aptos"/>
                <a:cs typeface="Aptos"/>
              </a:rPr>
              <a:t>03  APPLY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E6DA8-0789-4E28-856A-0CB71FF9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754D9-1190-4B35-8762-5A9D3213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Date, status, source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and notes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C6BA1-89CE-47FA-B73C-0C5DD434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381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6400C-1A69-45A5-8482-C399404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6649D-6263-45A6-872D-06169D3F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9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04  FOLLOW 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B59BA-0779-4BC8-8005-BD45E83F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Interviews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A3FFE5-A484-4EF0-BCEF-3B9FC4CC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Round, date, mode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and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0AB64D-36E9-4AE1-BDB3-12687BA3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1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F03283-C5B5-4177-A17E-35CAA987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432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3A8593-D92F-4131-98C0-A6B075F2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62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1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F7A305-F13B-4962-87E7-7BB01DEB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432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4DE35B-E084-4105-B3D2-692627E2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1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98B40-11C8-4F5B-8F08-1430B373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432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6D6DC3-D55E-48B7-9876-B80612AC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48250"/>
            <a:ext cx="5067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5C84D6-678F-497C-9FBD-6B9A9FD7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5302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Skills connect to applications through a bridge table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49C2FC-1834-40B5-A410-6020308E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483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Application_Skills supports a many-to-many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490577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32484-4C24-46E5-B0B5-34AAA552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23AA8-543B-4C0F-87D9-C45C362E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4EAF0-6588-4A1B-8AE3-4FC6D7F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Six tables form the relational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467E4-DC18-4B8E-95CF-14BE0692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5B0E2-9617-4D20-B429-E451A40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JOB APPLICATION TRACKER / MYSQL DATABASE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FCD0A-6C14-40D4-A213-32620C53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9DBCE-B23E-45FF-995E-7ECFE1A814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1e9bcf7f04f6e"/>
          <a:srcRect xmlns:a="http://schemas.openxmlformats.org/drawingml/2006/main" l="0" t="31000" r="0" b="23000"/>
          <a:stretch xmlns:a="http://schemas.openxmlformats.org/drawingml/2006/main"/>
        </p:blipFill>
        <p:spPr>
          <a:xfrm xmlns:a="http://schemas.openxmlformats.org/drawingml/2006/main">
            <a:off x="10382250" y="133350"/>
            <a:ext cx="1390650" cy="514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E20D1-42AB-4F8D-A8CE-0A03E0E1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SQL script defines six tables. Primary and foreign keys keep records connected.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91A9B-3D5A-4158-9C66-363EBBB5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CB29C-3121-4607-B1A6-B7F7C8CA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Companies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E4ACF-D2F8-4029-808F-88335B97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company_id (PK) · company name · industry · location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1C4D2-1359-4265-ABB0-B609AB54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57F1F-B6FD-484C-B94F-FB9E4F51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Job_Postings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C4476-3CD9-47FA-A923-CD9F6F2E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job_id (PK) · company_id (FK) · title · type · salary · location · posted 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29C43-B2C5-4CD8-AB5A-26DC8979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227D1-5C5F-4299-AF6D-2206D8D5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3401A-9216-4F41-B145-E2F184AC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application_id (PK) · job_id (FK) · date · status · source · notes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53222-47B5-438F-8C49-5E80F92A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A10DD-534B-4D22-AE62-9F68D624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Interviews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177BC-F46E-46D1-A04C-5CFC2D11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interview_id (PK) · application_id (FK) · round · date · mode ·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8A2E8-FF62-4B1E-80CB-BF0AAF31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D5FEAD-A8AD-40AD-8414-A25D329B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07F0F-5D78-4F1A-9CF7-CD978824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skill_id (PK) · unique skill_name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D0608-953D-42AB-B410-23698446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38715F-4490-46EA-BFC2-F822CE99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Application_Skills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243927-DFBC-4C81-AF4E-28BBB6A4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Composite key: application_id + skill_id. Both columns reference their parent tables.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AF5E52-248A-4B07-8C07-EB72ABDC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Relationships: Companies → Job_Postings → Applications → Interviews. Applications and Skills connect through Application_Skills.</a:t>
            </a:r>
          </a:p>
        </p:txBody>
      </p:sp>
    </p:spTree>
    <p:extLst>
      <p:ext uri="{BB962C8B-B14F-4D97-AF65-F5344CB8AC3E}">
        <p14:creationId xmlns:p14="http://schemas.microsoft.com/office/powerpoint/2010/main" val="1967184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2B5CD-F062-40AF-A5E6-07A449D6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6B401-7E1F-4209-A193-8C9B3D73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SQL EXAMPLES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AC4B0-07EB-4D17-907F-97106625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Queries turn records into useful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CAFC3-ACE2-4416-A3FF-ABE7100F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BA2B2-EA88-4D1F-BAB0-F5E9CE99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JOB APPLICATION TRACKER / MYSQL DATABASE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BD78A-7CCF-4455-BD38-CB410FE4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3A4D9-EEE1-46FA-A320-0EBF3BED9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2375fcd7f433a"/>
          <a:srcRect xmlns:a="http://schemas.openxmlformats.org/drawingml/2006/main" l="0" t="31000" r="0" b="23000"/>
          <a:stretch xmlns:a="http://schemas.openxmlformats.org/drawingml/2006/main"/>
        </p:blipFill>
        <p:spPr>
          <a:xfrm xmlns:a="http://schemas.openxmlformats.org/drawingml/2006/main">
            <a:off x="10382250" y="133350"/>
            <a:ext cx="1390650" cy="514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8BFBA-20A9-4BA0-9485-810E5511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script demonstrates common questions a candidate can ask of the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70D10-B989-4370-82E3-AB9E6CEE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7A143-90E8-482E-BB25-44E6BEC5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APPLICATION OVERVIEW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060D3-1A47-43FB-B822-7F215AD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Join Applications, Job_Postings and Companies to see the role and employer beside each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41BA4-E66E-43EA-99EC-5CD0C8EF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068F-1DFF-4DE7-A716-CF8974A8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PROGRESS BY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8BE90-A664-407A-9D61-D9EBB869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Group Applications by application_status and count records in each stage.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37EE7-2EF5-438A-9D8B-337B2BA7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01753-1746-463F-AD94-599F40D6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SALARY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3CD5A-5CA2-485E-A525-ED10F1B5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Compare each posting's maximum salary with the average across all postings.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FC129-43F2-4C41-A189-1076CB58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4E1D4-9E34-4E14-97B5-41598D5A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SEARCH &amp; FILTER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C174A-D095-42F7-9D95-B0C481AF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Find roles by title, salary range, date or current status.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74E64-BDE5-45BD-BFC8-6C76F7B5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An index on application_status supports filtering by progress stage.</a:t>
            </a:r>
          </a:p>
        </p:txBody>
      </p:sp>
    </p:spTree>
    <p:extLst>
      <p:ext uri="{BB962C8B-B14F-4D97-AF65-F5344CB8AC3E}">
        <p14:creationId xmlns:p14="http://schemas.microsoft.com/office/powerpoint/2010/main" val="818472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AC9F3-B477-4936-9BA2-6B35D457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39D95-A554-4D6B-A90D-F1761DFD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SAMPLE DATASET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D90E6-7BEC-46F6-ABA6-1F85909E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included records make the schema easy to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E34DB-66FB-459F-9F86-BAF1C31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776FA-198D-4F42-AC3B-99DF45E7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JOB APPLICATION TRACKER / MYSQL DATABASE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6B13E-B1CA-4249-9C87-0E2EF21B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C30CB-66DC-45E6-AF07-EB7020190B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1662624284486"/>
          <a:srcRect xmlns:a="http://schemas.openxmlformats.org/drawingml/2006/main" l="0" t="31000" r="0" b="23000"/>
          <a:stretch xmlns:a="http://schemas.openxmlformats.org/drawingml/2006/main"/>
        </p:blipFill>
        <p:spPr>
          <a:xfrm xmlns:a="http://schemas.openxmlformats.org/drawingml/2006/main">
            <a:off x="10382250" y="133350"/>
            <a:ext cx="1390650" cy="514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E502D-3876-4AD3-BE22-B13F84CB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SQL script seeds a small example dataset for practice and query demonstrations.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4D2BF-A2FA-4705-AD97-DBC60968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BFB49-41A1-4A17-9442-4E0E029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B5616-EB26-486A-B262-2CD7A384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Companies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B0620-D0CF-4EA2-AB28-9A2995DC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C2910-A083-4B6C-9DBD-4CC6BA98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907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02069-5359-4FB4-9738-09D5ACBB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99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Job postings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4DB09-28DA-4BF4-B397-0355262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0B60A-0B25-42E9-9EC6-FE4AC0A1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907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6240C-C6AB-4469-91CC-4964CA86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99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AAEAC-D87C-4965-B62E-BD39C77C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A2FD3-F3BD-40DE-AACB-A580A20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5D952-3988-4A87-A226-36AF52EA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Interview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0690E-46F0-43BF-8823-B7AE5977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1981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2DDB5-98FF-4098-A7DB-C55E5EA0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907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75E36-591A-4D02-A70E-FBAD9128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99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8BDAF-861C-48A3-8F31-D21BFF1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Example roles include Software Developer, Python Developer, Data Analyst, Graduate Software Engineer and SQL Developer.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48AF5-2A15-409F-8AA2-D65F0626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8"/>
          </a:solidFill>
          <a:ln xmlns:a="http://schemas.openxmlformats.org/drawingml/2006/main" w="9525">
            <a:solidFill>
              <a:srgbClr val="2543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873A6-2387-40E0-A49B-62B936FF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The sample includes Applied, Shortlisted, Interview, Rejected and Under Review statuses.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77790B-7BE2-405A-8DB6-951A25A3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Sample dates and salaries illustrate the schema. They do not represent live job market data.</a:t>
            </a:r>
          </a:p>
        </p:txBody>
      </p:sp>
    </p:spTree>
    <p:extLst>
      <p:ext uri="{BB962C8B-B14F-4D97-AF65-F5344CB8AC3E}">
        <p14:creationId xmlns:p14="http://schemas.microsoft.com/office/powerpoint/2010/main" val="959821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0E5FF-85B7-440D-A293-3AD8DFB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33A1A-AB87-4D02-A81E-0A36C0B1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6D01E-9278-41D6-88F4-529F4D96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clear foundation for a more complete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6AE60-D260-4D21-95EF-F8B41FF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49A04-1B79-403A-BA5E-A139122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JOB APPLICATION TRACKER / MYSQL DATABASE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5C596-FF7A-48DC-89C3-E8601607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8757E-3541-4D71-8FF4-CB5C35620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633cfd0254b49"/>
          <a:srcRect xmlns:a="http://schemas.openxmlformats.org/drawingml/2006/main" l="0" t="31000" r="0" b="23000"/>
          <a:stretch xmlns:a="http://schemas.openxmlformats.org/drawingml/2006/main"/>
        </p:blipFill>
        <p:spPr>
          <a:xfrm xmlns:a="http://schemas.openxmlformats.org/drawingml/2006/main">
            <a:off x="10382250" y="133350"/>
            <a:ext cx="1390650" cy="514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327BE-390B-4D08-A7F5-B54C921B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current deliverable is a MySQL database project with schema creation, example data, query demonstrations and a status index.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1150D-5138-498B-AA56-6BE2728B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69C12-A6FC-4AAB-A531-37ACA9F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A6641-7420-4CFE-B523-196384B2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Run on a fresh MySQL 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72CCE-E9A3-4459-8AA7-358CD33F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Execute the schema and sample-data sections once.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41DBF-F0CC-47C8-8D6A-084BC87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AF99B-BD19-4979-866E-6E7EE7AE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B7495-F030-4D13-BB21-A8D34CD8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Add 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A20C1-C4C6-454D-9251-F2EAF468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814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Build a summary view for applications by status and upcoming interviews.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46324-32D3-4FD6-9952-B583DFB2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61CFE-D50F-4A3B-AEB1-6D3AC97F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50952-5C2B-4E2D-BA3D-F098252E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Extend the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ECE4B-55FD-4457-85A8-B5647159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Add reminders or outcome tracking as the workflow evolves.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9BC38-E572-4D9F-82B5-0D60DC3A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85DB5-8370-4403-A433-B98F24CE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21C5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C5B2"/>
                </a:solidFill>
                <a:latin typeface="Aptos"/>
                <a:ea typeface="Aptos"/>
                <a:cs typeface="Aptos"/>
              </a:rPr>
              <a:t>Project author: Rittika Kundu</a:t>
            </a:r>
          </a:p>
        </p:txBody>
      </p:sp>
    </p:spTree>
    <p:extLst>
      <p:ext uri="{BB962C8B-B14F-4D97-AF65-F5344CB8AC3E}">
        <p14:creationId xmlns:p14="http://schemas.microsoft.com/office/powerpoint/2010/main" val="2116235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3F443-018C-4242-877B-BC4ABC80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4CE35-CDD5-4A53-A53B-D0E7ED5C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4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1B029-8F5C-4BC2-A023-03F1DFF3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80AA5-E4E2-4C0F-99D5-C389784A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433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B1C6"/>
                </a:solidFill>
                <a:latin typeface="Aptos"/>
                <a:ea typeface="Aptos"/>
                <a:cs typeface="Aptos"/>
              </a:rPr>
              <a:t>Job Application Tracker  /  MySQL Database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6342C-15D6-4CAD-A404-C22937CB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846B1-7811-4865-B24D-6FB6507D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JOB APPLICATION TRACKER / MYSQL DATABASE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AEDC0-E32F-4295-A701-7E246687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9FB1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1C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91354-D1B5-4AB1-952C-CF6ADEF554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7298926694dc8"/>
          <a:srcRect xmlns:a="http://schemas.openxmlformats.org/drawingml/2006/main" l="0" t="31000" r="0" b="23000"/>
          <a:stretch xmlns:a="http://schemas.openxmlformats.org/drawingml/2006/main"/>
        </p:blipFill>
        <p:spPr>
          <a:xfrm xmlns:a="http://schemas.openxmlformats.org/drawingml/2006/main">
            <a:off x="10382250" y="133350"/>
            <a:ext cx="1390650" cy="51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50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2026-10-29T08:16:18.4660000Z</dcterms:created>
  <dcterms:modified xsi:type="dcterms:W3CDTF">2026-10-29T08:16:18.4660000Z</dcterms:modified>
</coreProperties>
</file>